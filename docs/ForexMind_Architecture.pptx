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ForexMind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8F0FE"/>
                </a:solidFill>
                <a:latin typeface="Calibri"/>
              </a:rPr>
              <a:t>AI-Powered Forex Trading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A825"/>
                </a:solidFill>
                <a:latin typeface="Calibri"/>
              </a:rPr>
              <a:t>System Architecture &amp; Technical Design  |  Version 1.0  |  March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931920"/>
            <a:ext cx="2560320" cy="15544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≥70%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0FE"/>
                </a:solidFill>
                <a:latin typeface="Calibri"/>
              </a:rPr>
              <a:t>Target
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3931920"/>
            <a:ext cx="2560320" cy="15544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40233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46634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0FE"/>
                </a:solidFill>
                <a:latin typeface="Calibri"/>
              </a:rPr>
              <a:t>ML
Strategies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931920"/>
            <a:ext cx="2560320" cy="15544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6634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0FE"/>
                </a:solidFill>
                <a:latin typeface="Calibri"/>
              </a:rPr>
              <a:t>Forex
Pairs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3931920"/>
            <a:ext cx="2560320" cy="15544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40233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46634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0FE"/>
                </a:solidFill>
                <a:latin typeface="Calibri"/>
              </a:rPr>
              <a:t>User
Interfaces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A825"/>
                </a:solidFill>
                <a:latin typeface="Calibri"/>
              </a:rPr>
              <a:t>What this presentation covers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457200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188720"/>
            <a:ext cx="52120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2618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System Overview &amp; Design Philosophy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84248"/>
            <a:ext cx="457200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029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1984248"/>
            <a:ext cx="52120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057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High-Level Architecture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79776"/>
            <a:ext cx="457200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8254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2779776"/>
            <a:ext cx="52120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8529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Data Layer — OANDA &amp; News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75304"/>
            <a:ext cx="457200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62102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3575304"/>
            <a:ext cx="52120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64845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Technical Indicators Engine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70832"/>
            <a:ext cx="457200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4165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4370832"/>
            <a:ext cx="52120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44398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Four-Strategy Ensemble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166359"/>
            <a:ext cx="457200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2120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5166359"/>
            <a:ext cx="52120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239511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Risk Management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188720"/>
            <a:ext cx="457200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12280" y="1188720"/>
            <a:ext cx="52120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03720" y="12618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Claude AI Agent (LangChain 1.x)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1984248"/>
            <a:ext cx="457200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2029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12280" y="1984248"/>
            <a:ext cx="52120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03720" y="2057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Backtesting &amp; Validation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2779776"/>
            <a:ext cx="457200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28254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12280" y="2779776"/>
            <a:ext cx="52120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03720" y="28529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User Interfaces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3575304"/>
            <a:ext cx="457200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362102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12280" y="3575304"/>
            <a:ext cx="52120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03720" y="364845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Configuration &amp; Security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4370832"/>
            <a:ext cx="457200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44165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12280" y="4370832"/>
            <a:ext cx="52120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03720" y="444398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Performance Targets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A825"/>
                </a:solidFill>
                <a:latin typeface="Calibri"/>
              </a:rPr>
              <a:t>What ForexMind does and why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577840" cy="2560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A825"/>
                </a:solidFill>
                <a:latin typeface="Calibri"/>
              </a:rPr>
              <a:t>Core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Achieve ≥70% directional accuracy on 1–5 minute forex charts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All major, minor and exotic pairs (18 total)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Conversational AI interface — ask questions in plain English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AI-decided position sizing with hard risk controls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097280"/>
            <a:ext cx="5760720" cy="2560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188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A825"/>
                </a:solidFill>
                <a:latin typeface="Calibri"/>
              </a:rPr>
              <a:t>Design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Ensemble over single-model: 4 orthogonal strategies vote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Graceful degradation: untrained models return HOLD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Risk-first: no signal bypasses RiskManager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Async-native: all I/O non-blocking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Backtest before live: statistical edge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931920"/>
            <a:ext cx="2103120" cy="41148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396849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Claude 3.5 Sonnet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39" y="3931920"/>
            <a:ext cx="2103120" cy="41148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39" y="396849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LangChain 1.x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59" y="3931920"/>
            <a:ext cx="2103120" cy="41148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59" y="396849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LightGBM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79" y="3931920"/>
            <a:ext cx="2103120" cy="41148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79" y="396849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PyTorch BiLSTM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3931920"/>
            <a:ext cx="2103120" cy="41148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396849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PPO-RL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480559"/>
            <a:ext cx="2103120" cy="41148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517135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pandas-ta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39" y="4480559"/>
            <a:ext cx="2103120" cy="41148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06039" y="4517135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OANDA REST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59" y="4480559"/>
            <a:ext cx="2103120" cy="41148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59" y="4517135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9479" y="4480559"/>
            <a:ext cx="2103120" cy="41148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79" y="4517135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Rich CLI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4480559"/>
            <a:ext cx="2103120" cy="41148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4517135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Telegram 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High-Level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A825"/>
                </a:solidFill>
                <a:latin typeface="Calibri"/>
              </a:rPr>
              <a:t>End-to-end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228600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61288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Calibri"/>
              </a:rPr>
              <a:t>EXTERNAL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40" y="1051560"/>
            <a:ext cx="9052560" cy="621792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17957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  <a:latin typeface="Calibri"/>
              </a:rPr>
              <a:t>OANDA REST API  •  Alpha Vantage News  •  Finnhub News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73352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  <a:latin typeface="Calibri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46504"/>
            <a:ext cx="2286000" cy="6217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856232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 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1746504"/>
            <a:ext cx="9052560" cy="621792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87452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  <a:latin typeface="Calibri"/>
              </a:rPr>
              <a:t>OandaClient (async)  •  NewsAggregator (dedup + sentiment)  •  SQLite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368296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  <a:latin typeface="Calibri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441448"/>
            <a:ext cx="2286000" cy="62179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551176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Calibri"/>
              </a:rPr>
              <a:t>INDICATORS (25+)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2441448"/>
            <a:ext cx="9052560" cy="621792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2569464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  <a:latin typeface="Calibri"/>
              </a:rPr>
              <a:t>EMA / MACD / RSI / ADX / Stochastic / Bollinger / ATR / PSAR / Pivots 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063240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  <a:latin typeface="Calibri"/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36392"/>
            <a:ext cx="2286000" cy="62179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3246120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SIGNAL SCORER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40" y="3136392"/>
            <a:ext cx="9052560" cy="621792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0" y="3264408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  <a:latin typeface="Calibri"/>
              </a:rPr>
              <a:t>Weighted composite score  [ -100 → +100 ]   Trend 30% · Momentum 25% · Structure 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3758184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  <a:latin typeface="Calibri"/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831335"/>
            <a:ext cx="2286000" cy="6217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3941063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ENSEMBLE STRATEGY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06040" y="3831335"/>
            <a:ext cx="9052560" cy="621792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3959351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  <a:latin typeface="Calibri"/>
              </a:rPr>
              <a:t>Rule-Based 30%  |  LightGBM 25%  |  Bi-LSTM 25%  |  PPO-RL 20%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4453127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  <a:latin typeface="Calibri"/>
              </a:rP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526279"/>
            <a:ext cx="2286000" cy="62179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4636007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Calibri"/>
              </a:rPr>
              <a:t>RISK MANAGER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4526279"/>
            <a:ext cx="9052560" cy="621792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0" y="4654295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  <a:latin typeface="Calibri"/>
              </a:rPr>
              <a:t>Kill-switch · ATR stops · Kelly sizing · R:R ≥ 1:1 · Trailing stops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5148071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  <a:latin typeface="Calibri"/>
              </a:rPr>
              <a:t>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221224"/>
            <a:ext cx="2286000" cy="62179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5330952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CLAUDE AI AGENT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40" y="5221224"/>
            <a:ext cx="9052560" cy="621792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0" y="534924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  <a:latin typeface="Calibri"/>
              </a:rPr>
              <a:t>LangChain 1.x · 6 tools · Sliding window memory · JSON signal synthesis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5843016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  <a:latin typeface="Calibri"/>
              </a:rPr>
              <a:t>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916168"/>
            <a:ext cx="228600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6025896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Calibri"/>
              </a:rPr>
              <a:t>USER INTERFACES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06040" y="5916168"/>
            <a:ext cx="9052560" cy="621792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0" y="6044184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  <a:latin typeface="Calibri"/>
              </a:rPr>
              <a:t>Rich CLI  •  FastAPI Dashboard + WebSocket  •  Telegram Bot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Data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A825"/>
                </a:solidFill>
                <a:latin typeface="Calibri"/>
              </a:rPr>
              <a:t>OANDA Client &amp; News Aggregator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669280" cy="2926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A825"/>
                </a:solidFill>
                <a:latin typeface="Calibri"/>
              </a:rPr>
              <a:t>OANDA REST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asyncio.to_thread() wraps sync oandapyV20 library — fully non-blocking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@retry decorator: 3 attempts, exponential back-off (×2)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get_candles() → pandas DataFrame with UTC DatetimeIndex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get_multi_candles() → concurrent fetch for multiple pairs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market_order() with SL/TP bracket on fill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Targets: api-fxpractice.oanda.com (free, $100k virtual)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669280" cy="2926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1887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A825"/>
                </a:solidFill>
                <a:latin typeface="Calibri"/>
              </a:rPr>
              <a:t>News Aggregator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NewsSource ABC — 2 implementations: AlphaVantage + Finnhub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Deduplication by headline hash (no repeated articles)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15-minute TTL cache — respects free API rate limits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TextBlob sentiment: -1.0 (bearish) → +1.0 (bullish)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get_instrument_sentiment() → score + impact + headlines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Free tiers: AV 25/day, Finnhub 60/min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206240"/>
            <a:ext cx="11612880" cy="13716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251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Session Times Detector (utils/session_times.py)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63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Sydney 21:00–06:00  •  Tokyo 00:00–09:00  •  London 07:00–16:00  •  New York 12:00–21:00  •  Prime overlaps: London/NY 12:00–16:00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Technical Indicators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A825"/>
                </a:solidFill>
                <a:latin typeface="Calibri"/>
              </a:rPr>
              <a:t>25+ indicators via pandas-ta (pure Python)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577840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070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EMA 9/21/50/200  •  PSAR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928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9A825"/>
                </a:solidFill>
                <a:latin typeface="Calibri"/>
              </a:rPr>
              <a:t>→ ema_trend, psar_signal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143000"/>
            <a:ext cx="5577840" cy="12344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070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Momentum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5087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MACD(12/26/9)  •  RSI(14)  •  Stoch(14,3)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928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9A825"/>
                </a:solidFill>
                <a:latin typeface="Calibri"/>
              </a:rPr>
              <a:t>→ macd_cross, rsi_zone, stoch_cross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560320"/>
            <a:ext cx="5577840" cy="123444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6243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Oscillators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9260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CCI(20)  •  Williams %R(14)  •  MFI(14)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3101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9A825"/>
                </a:solidFill>
                <a:latin typeface="Calibri"/>
              </a:rPr>
              <a:t>→ Position vs extremes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560320"/>
            <a:ext cx="5577840" cy="12344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6243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Trend Str.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260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ADX(14) + DI+ / DI−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3101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9A825"/>
                </a:solidFill>
                <a:latin typeface="Calibri"/>
              </a:rPr>
              <a:t>→ adx_trend_strength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977639"/>
            <a:ext cx="5577840" cy="12344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041647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Volatility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343399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ATR(14)  •  Bollinger Bands(20,2)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727447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9A825"/>
                </a:solidFill>
                <a:latin typeface="Calibri"/>
              </a:rPr>
              <a:t>→ bb_position, atr for stop sizing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977639"/>
            <a:ext cx="5577840" cy="123444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41647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Volume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343399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OBV  •  ROC(5/10)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727447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9A825"/>
                </a:solidFill>
                <a:latin typeface="Calibri"/>
              </a:rPr>
              <a:t>→ Volume trend confirmation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394960"/>
            <a:ext cx="5577840" cy="12344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4589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760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Pivot Points  •  Swing highs/lows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1447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9A825"/>
                </a:solidFill>
                <a:latin typeface="Calibri"/>
              </a:rPr>
              <a:t>→ support, resistance levels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623560"/>
            <a:ext cx="11612880" cy="8229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Signal Scorer: Trend 30%  •  Momentum 25%  •  Structure 20%  •  Volume 15%  •  Volatility 10%  →  Score [-100, +100]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Four-Strategy 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A825"/>
                </a:solidFill>
                <a:latin typeface="Calibri"/>
              </a:rPr>
              <a:t>Weighted voting for robust directional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743200" cy="1920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Rule-Based
30%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74519"/>
            <a:ext cx="2560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6-condition checklist
(HTF trend, EMA stack,
MACD, RSI, Stoch, PSAR)
Confidence = conditions/6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097280"/>
            <a:ext cx="2743200" cy="1920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18872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LightGBM
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874519"/>
            <a:ext cx="2560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Gradient-boosted tree
TimeSeriesSplit 5-fold CV
Feature lags + rolling stats
balanced class weights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2743200" cy="192024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18872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BiLSTM
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74519"/>
            <a:ext cx="2560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2-layer BiLSTM (128 hidden)
AdamW + CosineAnnealing
BatchNorm + dropout=0.3
3-class softmax output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9720" y="1097280"/>
            <a:ext cx="2743200" cy="19202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18872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PPO-RL
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1874519"/>
            <a:ext cx="2560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stable-baselines3 PPO
Custom gymnasium.Env
Discrete(3) actions
P&amp;L reward − overtrading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11612880" cy="11887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461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Ensemble Voting 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93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buy_score = Σ(weight × confidence)  for BUY strategies      sell_score = Σ(weight × confidence)  for SELL strategies
Direction wins if score ≥ 0.50  AND  ≥2 strategies agree   →   otherwise HOLD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572000"/>
            <a:ext cx="11612880" cy="1554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6360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A825"/>
                </a:solidFill>
                <a:latin typeface="Calibri"/>
              </a:rPr>
              <a:t>Feature Engineering Pipeline (strategy/feature_engineering.py)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  <a:latin typeface="Calibri"/>
              </a:rPr>
              <a:t>5-bar lag features  •  Rolling stats (windows 5/10/20)  •  Candle patterns (engulfing, doji, body%)  •  Session flags  •  Normalised indicators  •  Target label: next-bar direction ≥3 pip threshold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Risk Management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A825"/>
                </a:solidFill>
                <a:latin typeface="Calibri"/>
              </a:rPr>
              <a:t>The gatekeeper — no trade can bypass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828800" cy="201168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7043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1. Kill-Switch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9164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Daily loss &gt; −5%
→ ALL trading halted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5688" y="173736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0A4AE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258568" y="1097280"/>
            <a:ext cx="1828800" cy="201168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58568" y="117043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2. Concurrent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169164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≥5 open trades
→ Reject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9935" y="173736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0A4AE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42816" y="1097280"/>
            <a:ext cx="1828800" cy="20116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2816" y="117043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3. ATR Stops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8536" y="169164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SL = entry ± ATR×1.5
TP = SL×RR_ratio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44183" y="173736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0A4AE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27064" y="1097280"/>
            <a:ext cx="1828800" cy="201168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117043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4. R:R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169164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tp_pips / sl_pips
≥ 1.0  or  Reject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173736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0A4AE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11312" y="1097280"/>
            <a:ext cx="1828800" cy="20116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117043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5. Kelly Size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2" y="169164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risk_pct = kelly×50
capped at 0.5%–2.0%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173736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0A4AE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95560" y="1097280"/>
            <a:ext cx="1828800" cy="20116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95560" y="117043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6. RiskProposal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69164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approved=True/False
with rejection reason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291840"/>
            <a:ext cx="5577840" cy="13716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337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Kelly Criterion (Half-Kelly)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70332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kelly = (win_rate × rr_ratio − (1 − win_rate)) / rr_ratio
risk_pct = clamp(kelly × 50,  min=0.5%,  max=2.0%)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3291840"/>
            <a:ext cx="5760720" cy="13716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3375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Live Trade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70332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Trailing stop: moves with price at ATR×1.0 distance
• Break-even escalation after 1R profit
• asyncio.Lock ensures thread-safe state updates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846320"/>
            <a:ext cx="11612880" cy="731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91947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0FE"/>
                </a:solidFill>
                <a:latin typeface="Calibri"/>
              </a:rPr>
              <a:t>Spread Filter: skip trade if bid–ask spread &gt; 3 pips  •  Paper Trading mode ON by default (PAPER_TRADING=true in .env)  •  Max concurrent trades: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Claude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A825"/>
                </a:solidFill>
                <a:latin typeface="Calibri"/>
              </a:rPr>
              <a:t>LangChain 1.x  bind_tools  +  manual agentic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69164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User
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2801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0A4AE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097280"/>
            <a:ext cx="1691640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114300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Build
Messages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2801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0A4AE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097280"/>
            <a:ext cx="1691640" cy="82296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114300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
Invoke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2801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0A4AE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097280"/>
            <a:ext cx="1691640" cy="82296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14300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Tool
Calls?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12801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0A4AE"/>
                </a:solidFill>
                <a:latin typeface="Calibri"/>
              </a:rPr>
              <a:t>↓/→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0" y="1097280"/>
            <a:ext cx="1691640" cy="82296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114300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Execute
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12801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0A4AE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1097280"/>
            <a:ext cx="169164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114300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Final
Answer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1965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0A4AE"/>
                </a:solidFill>
                <a:latin typeface="Calibri"/>
              </a:rPr>
              <a:t>loop back if tool calls exist (max 6 iterations)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242316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6 LangChain Tools (StructuredTool with Pydantic schemas)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834640"/>
            <a:ext cx="128016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288036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get_signal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2834640"/>
            <a:ext cx="2560320" cy="6400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91640" y="29260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Live OANDA data + indicators + ensemble → JSON signal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59" y="2834640"/>
            <a:ext cx="1280160" cy="6400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51959" y="288036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get_news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39" y="2834640"/>
            <a:ext cx="2560320" cy="6400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79" y="29260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Alpha Vantage + Finnhub → sentiment summary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2834640"/>
            <a:ext cx="1280160" cy="64008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288036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get_account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55480" y="2834640"/>
            <a:ext cx="2560320" cy="6400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46920" y="29260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Balance, NAV, margin, daily P&amp;L, kill-switch status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611880"/>
            <a:ext cx="1280160" cy="6400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365760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run_backtest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00200" y="3611880"/>
            <a:ext cx="2560320" cy="6400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91640" y="3703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Historical data → Sharpe, win rate, profit factor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51959" y="3611880"/>
            <a:ext cx="1280160" cy="64008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51959" y="365760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place_trade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39" y="3611880"/>
            <a:ext cx="2560320" cy="6400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79" y="3703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Market order with SL/TP on OANDA paper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3611880"/>
            <a:ext cx="1280160" cy="64008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365760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get_sessions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55480" y="3611880"/>
            <a:ext cx="2560320" cy="6400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46920" y="3703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Active sessions, overlaps, recommended pairs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617720"/>
            <a:ext cx="1161288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6634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A825"/>
                </a:solidFill>
                <a:latin typeface="Calibri"/>
              </a:rPr>
              <a:t>Memory &amp; Streaming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029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  <a:latin typeface="Calibri"/>
              </a:rPr>
              <a:t>Sliding-window deque (maxlen=40 messages = 20 turns) — no external library needed    •    stream_chat() resolves all tool calls silently then streams final answer token-by-token via llm.astream()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User Interfaces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A825"/>
                </a:solidFill>
                <a:latin typeface="Calibri"/>
              </a:rPr>
              <a:t>Three complete interfaces + REST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749039" cy="4480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Rich CLI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9164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Run: python -m forexmind.main cli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203704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Streaming response display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715768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Commands: /signal, /account, /pairs,
  /sessions, /backtest, /clear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22783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Colour-coded signal panels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739896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Session status banner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097280"/>
            <a:ext cx="3749039" cy="44805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399" y="117043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FastAPI Web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169164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Run: python -m forexmind.main 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19" y="2203704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http://localhost:8000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19" y="2715768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Dark-theme live signal grid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19" y="322783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WebSocket: 60s auto-refresh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19" y="3739896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Embedded Claude chat panel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19" y="425196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REST API: /api/signal/{pair}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097280"/>
            <a:ext cx="3749039" cy="448056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17043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Telegram Bot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169164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Run: python -m forexmind.main telegram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203704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Commands: /signal PAIR, /signals,
  /account, /sessions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715768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Inline keyboard buttons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22783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Free text → Claude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739896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HTML-formatted messages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Backtesting, Configuration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A825"/>
                </a:solidFill>
                <a:latin typeface="Calibri"/>
              </a:rPr>
              <a:t>Validate before you trade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577840" cy="2560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A825"/>
                </a:solidFill>
                <a:latin typeface="Calibri"/>
              </a:rPr>
              <a:t>Three-Layer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Event-driven backtest: bar-by-bar with slippage + commission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Walk-forward CV: TimeSeriesSplit(5), no look-ahead bias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Monte Carlo (1000 runs): shuffle trade order → VaR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Metrics: Win Rate, Profit Factor, Sharpe, Sortino, Max DD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097280"/>
            <a:ext cx="5760720" cy="2560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188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A825"/>
                </a:solidFill>
                <a:latin typeface="Calibri"/>
              </a:rPr>
              <a:t>Configuration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.env  →  API keys + PAPER_TRADING flag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config.yaml  →  all runtime tunables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Settings dataclass: @lru_cache singleton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Pairs, indicator periods, risk limits, ensemble weights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Retrain interval, news window, session times — all YAML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840480"/>
            <a:ext cx="5577840" cy="2560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9319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A825"/>
                </a:solidFill>
                <a:latin typeface="Calibri"/>
              </a:rPr>
              <a:t>Security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8912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No secrets in code — .env excluded from git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Paper trading ON by default; live requires explicit .env opt-in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Kill-switch: hard −5%/day limit halts everything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Parameterized SQL queries (no injection risk)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Telegram responds only to configured TELEGRAM_CHAT_ID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3840480"/>
            <a:ext cx="5760720" cy="2560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39319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A825"/>
                </a:solidFill>
                <a:latin typeface="Calibri"/>
              </a:rPr>
              <a:t>Required API Keys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38912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OANDA — free practice account (api-fxpractice.oanda.com)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ANTHROPIC_API_KEY — console.anthropic.com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ALPHA_VANTAGE_API_KEY — alphavantage.co (free 25/day)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FINNHUB_API_KEY — finnhub.io (free tier)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TELEGRAM_BOT_TOKEN + CHAT_ID — optional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Performance Targets &amp; 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A825"/>
                </a:solidFill>
                <a:latin typeface="Calibri"/>
              </a:rPr>
              <a:t>What success looks like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749039" cy="13258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≥70%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745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Directional
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59" y="1097280"/>
            <a:ext cx="3749039" cy="13258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59" y="1188720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≥1.5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59" y="18745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Profit
Factor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097280"/>
            <a:ext cx="3749039" cy="13258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188720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≥1.0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8745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Sharpe
Ratio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06039"/>
            <a:ext cx="3749039" cy="13258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697479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≥2:1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383279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R:R per
Trade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2606039"/>
            <a:ext cx="3749039" cy="132588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59" y="2697479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≤8%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59" y="3383279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Max Monthly
Drawdown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606039"/>
            <a:ext cx="3749039" cy="132588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697479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&lt;2s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383279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Signal
Latency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251960"/>
            <a:ext cx="11612880" cy="1645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2976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A825"/>
                </a:solidFill>
                <a:latin typeface="Calibri"/>
              </a:rPr>
              <a:t>Getting Started (3 steps)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663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  <a:latin typeface="Calibri"/>
              </a:rPr>
              <a:t>1. Add API keys to /home/wilson/Forex/.env   →   2. Train ML models: python -m forexmind.main train EUR_USD   →   3. Launch: python -m forexmind.main cli  |  web  |  telegram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ForexMind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9A825"/>
                </a:solidFill>
                <a:latin typeface="Calibri"/>
              </a:rPr>
              <a:t>Ready to Trade Smarter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F0FE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931920"/>
            <a:ext cx="8531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A4AE"/>
                </a:solidFill>
                <a:latin typeface="Calibri"/>
              </a:rPr>
              <a:t>Project: /home/wilson/Forex/forexmind/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434840"/>
            <a:ext cx="8531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A4AE"/>
                </a:solidFill>
                <a:latin typeface="Calibri"/>
              </a:rPr>
              <a:t>Tests:  python -m pytest forexmind/tests/ -v   (35/35 passing)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937760"/>
            <a:ext cx="8531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A4AE"/>
                </a:solidFill>
                <a:latin typeface="Calibri"/>
              </a:rPr>
              <a:t>Docs:   /home/wilson/Forex/docs/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